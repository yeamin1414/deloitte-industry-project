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Rg st="1" end="15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</a:rPr>
              <a:t>Hourly Test Throughput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 Completed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8am</c:v>
                </c:pt>
                <c:pt idx="1">
                  <c:v>9am</c:v>
                </c:pt>
                <c:pt idx="2">
                  <c:v>10am</c:v>
                </c:pt>
                <c:pt idx="3">
                  <c:v>11am</c:v>
                </c:pt>
                <c:pt idx="4">
                  <c:v>12pm</c:v>
                </c:pt>
                <c:pt idx="5">
                  <c:v>1pm</c:v>
                </c:pt>
                <c:pt idx="6">
                  <c:v>2pm</c:v>
                </c:pt>
                <c:pt idx="7">
                  <c:v>3pm</c:v>
                </c:pt>
                <c:pt idx="8">
                  <c:v>4pm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1204</c:v>
                </c:pt>
                <c:pt idx="1">
                  <c:v>1876</c:v>
                </c:pt>
                <c:pt idx="2">
                  <c:v>2103</c:v>
                </c:pt>
                <c:pt idx="3">
                  <c:v>1987</c:v>
                </c:pt>
                <c:pt idx="4">
                  <c:v>1432</c:v>
                </c:pt>
                <c:pt idx="5">
                  <c:v>1654</c:v>
                </c:pt>
                <c:pt idx="6">
                  <c:v>1823</c:v>
                </c:pt>
                <c:pt idx="7">
                  <c:v>1677</c:v>
                </c:pt>
                <c:pt idx="8">
                  <c:v>1071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20-4C2D-88B4-3D9C39A4A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8E8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8E8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</a:rPr>
              <a:t>Pre-Analytical Flags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Error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8ED-441E-9EE4-94F6B1383D45}"/>
              </c:ext>
            </c:extLst>
          </c:dPt>
          <c:dPt>
            <c:idx val="1"/>
            <c:bubble3D val="0"/>
            <c:spPr>
              <a:solidFill>
                <a:srgbClr val="F57F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8ED-441E-9EE4-94F6B1383D45}"/>
              </c:ext>
            </c:extLst>
          </c:dPt>
          <c:dPt>
            <c:idx val="2"/>
            <c:bubble3D val="0"/>
            <c:spPr>
              <a:solidFill>
                <a:srgbClr val="F57F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8ED-441E-9EE4-94F6B1383D45}"/>
              </c:ext>
            </c:extLst>
          </c:dPt>
          <c:dPt>
            <c:idx val="3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8ED-441E-9EE4-94F6B1383D45}"/>
              </c:ext>
            </c:extLst>
          </c:dPt>
          <c:dPt>
            <c:idx val="4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8ED-441E-9EE4-94F6B1383D45}"/>
              </c:ext>
            </c:extLst>
          </c:dPt>
          <c:cat>
            <c:strRef>
              <c:f>Sheet1!$A$2:$A$6</c:f>
              <c:strCache>
                <c:ptCount val="5"/>
                <c:pt idx="0">
                  <c:v>Haemolysis</c:v>
                </c:pt>
                <c:pt idx="1">
                  <c:v>Clotted</c:v>
                </c:pt>
                <c:pt idx="2">
                  <c:v>Insufficient Vol</c:v>
                </c:pt>
                <c:pt idx="3">
                  <c:v>Wrong Tube</c:v>
                </c:pt>
                <c:pt idx="4">
                  <c:v>Passed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21</c:v>
                </c:pt>
                <c:pt idx="2">
                  <c:v>19</c:v>
                </c:pt>
                <c:pt idx="3">
                  <c:v>14</c:v>
                </c:pt>
                <c:pt idx="4">
                  <c:v>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8ED-441E-9EE4-94F6B1383D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E8E8E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212121"/>
                </a:solidFill>
                <a:latin typeface="Arial"/>
              </a:defRPr>
            </a:pPr>
            <a:r>
              <a:rPr lang="en-US" sz="950" b="0" i="0" u="none" strike="noStrike">
                <a:solidFill>
                  <a:srgbClr val="212121"/>
                </a:solidFill>
                <a:latin typeface="Arial"/>
              </a:rPr>
              <a:t>Risk Score (Impact × Likelihood)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15-4E5A-A69A-1272EE79755E}"/>
              </c:ext>
            </c:extLst>
          </c:dPt>
          <c:dPt>
            <c:idx val="1"/>
            <c:invertIfNegative val="0"/>
            <c:bubble3D val="0"/>
            <c:spPr>
              <a:solidFill>
                <a:srgbClr val="F57F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15-4E5A-A69A-1272EE79755E}"/>
              </c:ext>
            </c:extLst>
          </c:dPt>
          <c:dPt>
            <c:idx val="2"/>
            <c:invertIfNegative val="0"/>
            <c:bubble3D val="0"/>
            <c:spPr>
              <a:solidFill>
                <a:srgbClr val="F57F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15-4E5A-A69A-1272EE79755E}"/>
              </c:ext>
            </c:extLst>
          </c:dPt>
          <c:dPt>
            <c:idx val="3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B15-4E5A-A69A-1272EE79755E}"/>
              </c:ext>
            </c:extLst>
          </c:dPt>
          <c:dPt>
            <c:idx val="4"/>
            <c:invertIfNegative val="0"/>
            <c:bubble3D val="0"/>
            <c:spPr>
              <a:solidFill>
                <a:srgbClr val="7575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B15-4E5A-A69A-1272EE79755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Cyber Attack</c:v>
                </c:pt>
                <c:pt idx="1">
                  <c:v>Integration
Complexity</c:v>
                </c:pt>
                <c:pt idx="2">
                  <c:v>Adoption
Resistance</c:v>
                </c:pt>
                <c:pt idx="3">
                  <c:v>Cloud Outage</c:v>
                </c:pt>
                <c:pt idx="4">
                  <c:v>Regulatory
Change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12</c:v>
                </c:pt>
                <c:pt idx="2">
                  <c:v>9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B15-4E5A-A69A-1272EE7975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465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0574" y="1"/>
            <a:ext cx="9164574" cy="5149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1444" y="1365365"/>
            <a:ext cx="3600450" cy="20716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1445" y="3536116"/>
            <a:ext cx="2873156" cy="11224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1444" y="164592"/>
            <a:ext cx="20278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26580" y="164592"/>
            <a:ext cx="1121524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165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3089" y="161144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371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1" y="8925"/>
            <a:ext cx="9144001" cy="514928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344440"/>
            <a:ext cx="4243851" cy="2018519"/>
          </a:xfrm>
        </p:spPr>
        <p:txBody>
          <a:bodyPr/>
          <a:lstStyle>
            <a:lvl1pPr>
              <a:defRPr sz="345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1698" y="387450"/>
            <a:ext cx="1945361" cy="122091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1699" y="164592"/>
            <a:ext cx="187803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1" y="164592"/>
            <a:ext cx="85978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164592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763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1714" cy="51435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47883"/>
            <a:ext cx="9141714" cy="1795618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825" y="3347883"/>
            <a:ext cx="2540890" cy="1795618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05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28242" y="164592"/>
            <a:ext cx="2055462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649571" y="164592"/>
            <a:ext cx="1468493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21647" y="164592"/>
            <a:ext cx="336604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688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35879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485" y="3233854"/>
            <a:ext cx="6439003" cy="1776225"/>
          </a:xfrm>
        </p:spPr>
        <p:txBody>
          <a:bodyPr anchor="b">
            <a:normAutofit/>
          </a:bodyPr>
          <a:lstStyle>
            <a:lvl1pPr>
              <a:defRPr sz="5175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64592"/>
            <a:ext cx="1992134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4592"/>
            <a:ext cx="1434942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4" y="164592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773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1"/>
            <a:ext cx="9144000" cy="2151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76" y="1604082"/>
            <a:ext cx="4824950" cy="1471612"/>
          </a:xfrm>
        </p:spPr>
        <p:txBody>
          <a:bodyPr anchor="t">
            <a:normAutofit/>
          </a:bodyPr>
          <a:lstStyle>
            <a:lvl1pPr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14975" y="161144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4976" y="1604082"/>
            <a:ext cx="2788815" cy="3082218"/>
          </a:xfrm>
        </p:spPr>
        <p:txBody>
          <a:bodyPr vert="horz" lIns="91440" tIns="45720" rIns="91440" bIns="45720" rtlCol="0" anchor="t">
            <a:normAutofit/>
          </a:bodyPr>
          <a:lstStyle>
            <a:lvl1pPr marL="342900" indent="-342900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1pPr>
            <a:lvl2pPr marL="428625" indent="-257175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2pPr>
            <a:lvl3pPr marL="600075" indent="-257175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47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7487" y="1916813"/>
            <a:ext cx="9144000" cy="3257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139" y="2611285"/>
            <a:ext cx="4122320" cy="1569204"/>
          </a:xfrm>
        </p:spPr>
        <p:txBody>
          <a:bodyPr anchor="t">
            <a:normAutofit/>
          </a:bodyPr>
          <a:lstStyle>
            <a:lvl1pPr>
              <a:defRPr sz="57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9144000" cy="1916813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246" y="2050551"/>
            <a:ext cx="204549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39176" y="2050551"/>
            <a:ext cx="11900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7461" y="2050551"/>
            <a:ext cx="39502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39176" y="2611285"/>
            <a:ext cx="2937077" cy="2074415"/>
          </a:xfrm>
        </p:spPr>
        <p:txBody>
          <a:bodyPr vert="horz" lIns="91440" tIns="45720" rIns="91440" bIns="45720" rtlCol="0">
            <a:normAutofit/>
          </a:bodyPr>
          <a:lstStyle>
            <a:lvl1pPr marL="25717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1pPr>
            <a:lvl2pPr marL="42862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2pPr>
            <a:lvl3pPr marL="60007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5pPr>
          </a:lstStyle>
          <a:p>
            <a:pPr marL="171450" lvl="0" indent="-171450"/>
            <a:r>
              <a:rPr lang="en-GB"/>
              <a:t>Click to edit Master text styles</a:t>
            </a:r>
          </a:p>
          <a:p>
            <a:pPr marL="171450" lvl="1" indent="-171450"/>
            <a:r>
              <a:rPr lang="en-GB"/>
              <a:t>Second level</a:t>
            </a:r>
          </a:p>
          <a:p>
            <a:pPr marL="171450" lvl="2" indent="-171450"/>
            <a:r>
              <a:rPr lang="en-GB"/>
              <a:t>Third level</a:t>
            </a:r>
          </a:p>
          <a:p>
            <a:pPr marL="171450" lvl="3" indent="-171450"/>
            <a:r>
              <a:rPr lang="en-GB"/>
              <a:t>Fourth level</a:t>
            </a:r>
          </a:p>
          <a:p>
            <a:pPr marL="171450" lvl="4" indent="-171450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5412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4743451" y="1"/>
            <a:ext cx="4410941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9" y="957742"/>
            <a:ext cx="4033700" cy="739244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2044782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5638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7721" y="161144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608" y="1853802"/>
            <a:ext cx="4033701" cy="2747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356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3305175"/>
            <a:ext cx="6858000" cy="1838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175" y="1415034"/>
            <a:ext cx="2630992" cy="2425446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56296"/>
            <a:ext cx="1899089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00550" y="156296"/>
            <a:ext cx="15131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441" y="156296"/>
            <a:ext cx="41486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0551" y="1415034"/>
            <a:ext cx="3371850" cy="24254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90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327" y="836676"/>
            <a:ext cx="1878948" cy="121809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4592"/>
            <a:ext cx="2013036" cy="25374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30548" y="161867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682" y="161867"/>
            <a:ext cx="411954" cy="253746"/>
          </a:xfrm>
        </p:spPr>
        <p:txBody>
          <a:bodyPr/>
          <a:lstStyle/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1327" y="2271392"/>
            <a:ext cx="1878948" cy="25577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30548" y="885825"/>
            <a:ext cx="6613452" cy="425767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109355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6"/>
            <a:ext cx="3000375" cy="1014387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64592"/>
            <a:ext cx="2045948" cy="25374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35924" y="164592"/>
            <a:ext cx="1310831" cy="253746"/>
          </a:xfrm>
        </p:spPr>
        <p:txBody>
          <a:bodyPr/>
          <a:lstStyle/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0461" y="162210"/>
            <a:ext cx="413335" cy="253746"/>
          </a:xfrm>
        </p:spPr>
        <p:txBody>
          <a:bodyPr/>
          <a:lstStyle/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5924" y="828675"/>
            <a:ext cx="5193752" cy="1014387"/>
          </a:xfrm>
        </p:spPr>
        <p:txBody>
          <a:bodyPr>
            <a:normAutofit/>
          </a:bodyPr>
          <a:lstStyle>
            <a:lvl1pPr marL="214313" indent="-214313">
              <a:buFont typeface="Arial" panose="020B0604020202020204" pitchFamily="34" charset="0"/>
              <a:buNone/>
              <a:defRPr sz="1050"/>
            </a:lvl1pPr>
            <a:lvl2pPr marL="385763" indent="-214313">
              <a:buFont typeface="Arial" panose="020B0604020202020204" pitchFamily="34" charset="0"/>
              <a:buNone/>
              <a:defRPr sz="1050"/>
            </a:lvl2pPr>
            <a:lvl3pPr marL="557213" indent="-214313">
              <a:buFont typeface="Arial" panose="020B0604020202020204" pitchFamily="34" charset="0"/>
              <a:buNone/>
              <a:defRPr sz="1050"/>
            </a:lvl3pPr>
            <a:lvl4pPr marL="642938" indent="-128588">
              <a:buFont typeface="Arial" panose="020B0604020202020204" pitchFamily="34" charset="0"/>
              <a:buNone/>
              <a:defRPr sz="1050"/>
            </a:lvl4pPr>
            <a:lvl5pPr marL="814388" indent="-128588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03882"/>
            <a:ext cx="9144000" cy="293961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189744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7"/>
            <a:ext cx="1885950" cy="2189189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188595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67811" y="1"/>
            <a:ext cx="6576190" cy="298928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4600" y="3058221"/>
            <a:ext cx="1440180" cy="253746"/>
          </a:xfrm>
        </p:spPr>
        <p:txBody>
          <a:bodyPr/>
          <a:lstStyle/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3058221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14600" y="3317682"/>
            <a:ext cx="6315075" cy="1368618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080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005" y="836677"/>
            <a:ext cx="3935683" cy="74559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4592"/>
            <a:ext cx="2200275" cy="25374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2434" y="156816"/>
            <a:ext cx="13830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0639" y="156816"/>
            <a:ext cx="416961" cy="253746"/>
          </a:xfrm>
        </p:spPr>
        <p:txBody>
          <a:bodyPr/>
          <a:lstStyle/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885825"/>
            <a:ext cx="3935683" cy="425767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11005" y="1600200"/>
            <a:ext cx="3935683" cy="30861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3475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43" y="836676"/>
            <a:ext cx="2705753" cy="2377909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1144"/>
            <a:ext cx="1947830" cy="25374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34432" y="161144"/>
            <a:ext cx="1190033" cy="253746"/>
          </a:xfrm>
        </p:spPr>
        <p:txBody>
          <a:bodyPr/>
          <a:lstStyle/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208" y="161144"/>
            <a:ext cx="416961" cy="253746"/>
          </a:xfrm>
        </p:spPr>
        <p:txBody>
          <a:bodyPr/>
          <a:lstStyle/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4432" y="834504"/>
            <a:ext cx="5195243" cy="1475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1050"/>
            </a:lvl3pPr>
            <a:lvl4pPr marL="514350" indent="0">
              <a:buFont typeface="Arial" panose="020B0604020202020204" pitchFamily="34" charset="0"/>
              <a:buNone/>
              <a:defRPr sz="1050"/>
            </a:lvl4pPr>
            <a:lvl5pPr marL="6858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77310" y="2625153"/>
            <a:ext cx="5466691" cy="2518348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2911907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95" y="2571751"/>
            <a:ext cx="1875980" cy="1913987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9144000" cy="202882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2148968"/>
            <a:ext cx="2044782" cy="25374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4600" y="2148968"/>
            <a:ext cx="1475509" cy="253746"/>
          </a:xfrm>
        </p:spPr>
        <p:txBody>
          <a:bodyPr/>
          <a:lstStyle/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2148968"/>
            <a:ext cx="416961" cy="253746"/>
          </a:xfrm>
        </p:spPr>
        <p:txBody>
          <a:bodyPr/>
          <a:lstStyle/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14600" y="2571750"/>
            <a:ext cx="6157653" cy="22574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1050"/>
            </a:lvl3pPr>
            <a:lvl4pPr marL="514350" indent="0">
              <a:buFont typeface="Arial" panose="020B0604020202020204" pitchFamily="34" charset="0"/>
              <a:buNone/>
              <a:defRPr sz="1050"/>
            </a:lvl4pPr>
            <a:lvl5pPr marL="6858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2278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673" y="836676"/>
            <a:ext cx="2702442" cy="1057409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29025" y="156816"/>
            <a:ext cx="1885950" cy="253746"/>
          </a:xfrm>
        </p:spPr>
        <p:txBody>
          <a:bodyPr/>
          <a:lstStyle/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4515" y="164592"/>
            <a:ext cx="423256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673" y="2028825"/>
            <a:ext cx="2702442" cy="2771775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01452" y="881743"/>
            <a:ext cx="5442548" cy="4261757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4633323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3455719"/>
            <a:ext cx="3314700" cy="1230581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35" y="1"/>
            <a:ext cx="3627590" cy="316064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5956" y="156816"/>
            <a:ext cx="2044782" cy="25374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2893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5957" y="828675"/>
            <a:ext cx="4312786" cy="3857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717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836676"/>
            <a:ext cx="2329001" cy="1227383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2044782" cy="25374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1641" y="161144"/>
            <a:ext cx="1902741" cy="253746"/>
          </a:xfrm>
        </p:spPr>
        <p:txBody>
          <a:bodyPr/>
          <a:lstStyle/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9630" y="161144"/>
            <a:ext cx="416961" cy="253746"/>
          </a:xfrm>
        </p:spPr>
        <p:txBody>
          <a:bodyPr/>
          <a:lstStyle/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2263140"/>
            <a:ext cx="2563427" cy="288036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1642" y="828676"/>
            <a:ext cx="5607428" cy="40004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937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9144000" cy="514807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300" y="3811784"/>
            <a:ext cx="3000375" cy="876923"/>
          </a:xfrm>
        </p:spPr>
        <p:txBody>
          <a:bodyPr anchor="b">
            <a:normAutofit/>
          </a:bodyPr>
          <a:lstStyle>
            <a:lvl1pPr>
              <a:defRPr sz="1500" spc="-38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29300" y="156816"/>
            <a:ext cx="147801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0742" y="797719"/>
            <a:ext cx="7821215" cy="2631281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9500"/>
            </a:lvl1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86621894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1"/>
            <a:ext cx="9144000" cy="36021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4325" y="2164205"/>
            <a:ext cx="6600826" cy="2664970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500" b="0" spc="-38" baseline="0">
                <a:solidFill>
                  <a:schemeClr val="tx1"/>
                </a:solidFill>
              </a:defRPr>
            </a:lvl1pPr>
            <a:lvl2pPr marL="171450" indent="0">
              <a:lnSpc>
                <a:spcPct val="85000"/>
              </a:lnSpc>
              <a:buNone/>
              <a:defRPr sz="3300" b="0" spc="-38" baseline="0">
                <a:solidFill>
                  <a:schemeClr val="tx1"/>
                </a:solidFill>
              </a:defRPr>
            </a:lvl2pPr>
            <a:lvl3pPr marL="342900" indent="0">
              <a:lnSpc>
                <a:spcPct val="85000"/>
              </a:lnSpc>
              <a:buNone/>
              <a:defRPr sz="3000" b="0" spc="-38" baseline="0">
                <a:solidFill>
                  <a:schemeClr val="tx1"/>
                </a:solidFill>
              </a:defRPr>
            </a:lvl3pPr>
            <a:lvl4pPr marL="514350" indent="0">
              <a:lnSpc>
                <a:spcPct val="85000"/>
              </a:lnSpc>
              <a:buNone/>
              <a:defRPr sz="2700" b="0" spc="-38" baseline="0">
                <a:solidFill>
                  <a:schemeClr val="tx1"/>
                </a:solidFill>
              </a:defRPr>
            </a:lvl4pPr>
            <a:lvl5pPr marL="685800" indent="0">
              <a:lnSpc>
                <a:spcPct val="85000"/>
              </a:lnSpc>
              <a:buNone/>
              <a:defRPr sz="2400" b="0" spc="-38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6469269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0175" y="3655664"/>
            <a:ext cx="6379925" cy="499820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050" b="0" cap="all" spc="75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00175" y="1392072"/>
            <a:ext cx="6379925" cy="2141541"/>
          </a:xfrm>
        </p:spPr>
        <p:txBody>
          <a:bodyPr anchor="ctr">
            <a:normAutofit/>
          </a:bodyPr>
          <a:lstStyle>
            <a:lvl1pPr marL="123444" indent="-123444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750" spc="-38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72893645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6"/>
            <a:ext cx="6286500" cy="5262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3850" y="1425178"/>
            <a:ext cx="3693319" cy="32611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09118" y="1425178"/>
            <a:ext cx="3693319" cy="32611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1723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92" y="699073"/>
            <a:ext cx="8126654" cy="5280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4018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991" y="1256710"/>
            <a:ext cx="3685439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3850" y="1713766"/>
            <a:ext cx="3675580" cy="29725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4875" y="1256710"/>
            <a:ext cx="3725771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9551" y="1713766"/>
            <a:ext cx="3737072" cy="29725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1139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835133"/>
            <a:ext cx="6285232" cy="6571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2629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48100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0" y="0"/>
            <a:ext cx="9143999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95" y="569214"/>
            <a:ext cx="5707251" cy="130115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325" y="2028826"/>
            <a:ext cx="6600825" cy="22106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5945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0" y="0"/>
            <a:ext cx="9143999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2028579"/>
            <a:ext cx="4099245" cy="2050038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9163" y="2028825"/>
            <a:ext cx="3307556" cy="11715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26332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46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835133"/>
            <a:ext cx="7456807" cy="6571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063" y="1600200"/>
            <a:ext cx="7456807" cy="3228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295" y="161144"/>
            <a:ext cx="2044782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525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0825" y="161144"/>
            <a:ext cx="1440180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525" cap="all" baseline="0">
                <a:solidFill>
                  <a:schemeClr val="tx1"/>
                </a:solidFill>
              </a:defRPr>
            </a:lvl1pPr>
          </a:lstStyle>
          <a:p>
            <a:fld id="{095A1F65-CA68-4C57-B483-30E8D33911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8743" y="161144"/>
            <a:ext cx="416961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525" cap="all" baseline="0">
                <a:solidFill>
                  <a:schemeClr val="tx1"/>
                </a:solidFill>
              </a:defRPr>
            </a:lvl1pPr>
          </a:lstStyle>
          <a:p>
            <a:fld id="{E1B85C66-A7EE-4BA0-ABBC-DFA5452DE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325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  <p:sldLayoutId id="2147483729" r:id="rId24"/>
    <p:sldLayoutId id="2147483730" r:id="rId25"/>
    <p:sldLayoutId id="2147483731" r:id="rId26"/>
    <p:sldLayoutId id="2147483732" r:id="rId27"/>
    <p:sldLayoutId id="2147483733" r:id="rId28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250" b="0" kern="1200" spc="-8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731520"/>
            <a:ext cx="4754880" cy="4754880"/>
          </a:xfrm>
          <a:prstGeom prst="ellipse">
            <a:avLst/>
          </a:prstGeom>
          <a:solidFill>
            <a:srgbClr val="1B5E20">
              <a:alpha val="40000"/>
            </a:srgbClr>
          </a:solidFill>
          <a:ln w="12700">
            <a:solidFill>
              <a:srgbClr val="76C44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69280" y="-182880"/>
            <a:ext cx="3474720" cy="3474720"/>
          </a:xfrm>
          <a:prstGeom prst="ellipse">
            <a:avLst/>
          </a:prstGeom>
          <a:solidFill>
            <a:srgbClr val="2E7D32">
              <a:alpha val="30000"/>
            </a:srgbClr>
          </a:solidFill>
          <a:ln w="6350">
            <a:solidFill>
              <a:srgbClr val="76C44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Open Sans" panose="020B0606030504020204" pitchFamily="34" charset="0"/>
                <a:cs typeface="Arial" pitchFamily="34" charset="-120"/>
              </a:rPr>
              <a:t>Deloitte.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1691640" y="347472"/>
            <a:ext cx="109728" cy="109728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54864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4800" b="1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KapConnect</a:t>
            </a:r>
            <a:endParaRPr lang="en-US" sz="4800" b="1">
              <a:solidFill>
                <a:srgbClr val="FFFFFF"/>
              </a:solidFill>
              <a:latin typeface="Arial"/>
              <a:ea typeface="Arial" pitchFamily="34" charset="-122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54864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fontAlgn="base"/>
            <a:endParaRPr lang="en-US" sz="1600">
              <a:solidFill>
                <a:srgbClr val="76C442"/>
              </a:solidFill>
              <a:cs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 Engineering Design Challenge  |  August 2026</a:t>
            </a:r>
            <a:endParaRPr lang="en-US" sz="1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A350B-CCA7-8EA8-EF7B-849124A6128A}"/>
              </a:ext>
            </a:extLst>
          </p:cNvPr>
          <p:cNvSpPr txBox="1"/>
          <p:nvPr/>
        </p:nvSpPr>
        <p:spPr>
          <a:xfrm>
            <a:off x="1427871" y="12765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28E34F-E1AF-E06E-FC25-48BE2E91F3E5}"/>
              </a:ext>
            </a:extLst>
          </p:cNvPr>
          <p:cNvSpPr txBox="1"/>
          <p:nvPr/>
        </p:nvSpPr>
        <p:spPr>
          <a:xfrm>
            <a:off x="74806" y="2769662"/>
            <a:ext cx="5245347" cy="707886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 fontAlgn="base"/>
            <a:r>
              <a:rPr lang="en-US" sz="2000" b="1" i="1">
                <a:solidFill>
                  <a:srgbClr val="92D050"/>
                </a:solidFill>
                <a:latin typeface="Amasis MT Pro Medium" panose="020F050202020403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Turning Siloed Diagnostics into Doctor Ready </a:t>
            </a:r>
          </a:p>
          <a:p>
            <a:pPr algn="ctr" fontAlgn="base"/>
            <a:r>
              <a:rPr lang="en-US" sz="2000" b="1" i="1">
                <a:solidFill>
                  <a:srgbClr val="92D050"/>
                </a:solidFill>
                <a:latin typeface="Amasis MT Pro Medium" panose="020F050202020403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Decision in real time</a:t>
            </a:r>
            <a:endParaRPr lang="en-US" sz="2000" b="1">
              <a:solidFill>
                <a:srgbClr val="92D050"/>
              </a:solidFill>
              <a:latin typeface="Amasis MT Pro Medium" panose="020F050202020403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76200" dist="381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4320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performs 500M+ pathology tests annually. Disconnected hospital systems cause 46–70% of diagnostic errors at the pre-analytical phase which is costing lives and billions in rework.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76200" dist="381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54680" y="777240"/>
            <a:ext cx="27432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804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3291840" y="128016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KapConnect</a:t>
            </a: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™ is a modular, cloud-hybrid integration platform that connects </a:t>
            </a:r>
            <a:r>
              <a:rPr lang="en-US" sz="115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KapD</a:t>
            </a: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diagnostic devices, lab software, and hospital systems into one trusted data ecosystem  in real 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77724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76200" dist="381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80760" y="777240"/>
            <a:ext cx="274320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804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6217920" y="128016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35% reduction in diagnostic turnaround time, 5× reduction in duplicate patient record risk, and full HL7 FHIR / AS4700 compliance across Australian health networks.</a:t>
            </a:r>
            <a:endParaRPr lang="en-US" sz="1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Australian Diagnostic Crisis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numbers. Real consequences.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2560320"/>
          </a:xfrm>
          <a:prstGeom prst="rect">
            <a:avLst/>
          </a:prstGeom>
          <a:solidFill>
            <a:srgbClr val="111111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920240" cy="73152"/>
          </a:xfrm>
          <a:prstGeom prst="rect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400" b="1">
              <a:solidFill>
                <a:srgbClr val="76C4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4400" b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500M+</a:t>
            </a:r>
            <a:endParaRPr lang="en-US" sz="4400"/>
          </a:p>
        </p:txBody>
      </p:sp>
      <p:sp>
        <p:nvSpPr>
          <p:cNvPr id="8" name="Text 6"/>
          <p:cNvSpPr/>
          <p:nvPr/>
        </p:nvSpPr>
        <p:spPr>
          <a:xfrm>
            <a:off x="320040" y="21214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Pathology tests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 in Australia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32004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MBS/AIHW 2024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2450592" y="1188720"/>
            <a:ext cx="1920240" cy="2560320"/>
          </a:xfrm>
          <a:prstGeom prst="rect">
            <a:avLst/>
          </a:prstGeom>
          <a:solidFill>
            <a:srgbClr val="111111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50592" y="1188720"/>
            <a:ext cx="1920240" cy="73152"/>
          </a:xfrm>
          <a:prstGeom prst="rect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96312" y="1325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4400"/>
          </a:p>
        </p:txBody>
      </p:sp>
      <p:sp>
        <p:nvSpPr>
          <p:cNvPr id="13" name="Text 11"/>
          <p:cNvSpPr/>
          <p:nvPr/>
        </p:nvSpPr>
        <p:spPr>
          <a:xfrm>
            <a:off x="2496312" y="21214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lab errors occur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pre-analytically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2496312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 Biochem Rev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4626864" y="1188720"/>
            <a:ext cx="1920240" cy="2560320"/>
          </a:xfrm>
          <a:prstGeom prst="rect">
            <a:avLst/>
          </a:prstGeom>
          <a:solidFill>
            <a:srgbClr val="111111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1188720"/>
            <a:ext cx="1920240" cy="73152"/>
          </a:xfrm>
          <a:prstGeom prst="rect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72584" y="1325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4400"/>
          </a:p>
        </p:txBody>
      </p:sp>
      <p:sp>
        <p:nvSpPr>
          <p:cNvPr id="18" name="Text 16"/>
          <p:cNvSpPr/>
          <p:nvPr/>
        </p:nvSpPr>
        <p:spPr>
          <a:xfrm>
            <a:off x="4672584" y="21214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duplicate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record rate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672584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AHIMA / Austral.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6803136" y="1188720"/>
            <a:ext cx="1920240" cy="2560320"/>
          </a:xfrm>
          <a:prstGeom prst="rect">
            <a:avLst/>
          </a:prstGeom>
          <a:solidFill>
            <a:srgbClr val="111111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03136" y="1188720"/>
            <a:ext cx="1920240" cy="73152"/>
          </a:xfrm>
          <a:prstGeom prst="rect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48856" y="1325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</a:t>
            </a:r>
            <a:endParaRPr lang="en-US" sz="4400"/>
          </a:p>
        </p:txBody>
      </p:sp>
      <p:sp>
        <p:nvSpPr>
          <p:cNvPr id="23" name="Text 21"/>
          <p:cNvSpPr/>
          <p:nvPr/>
        </p:nvSpPr>
        <p:spPr>
          <a:xfrm>
            <a:off x="6848856" y="21214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1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mortality risk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duplicate records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6848856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BMJ Quality &amp; Safety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365760" y="3931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has no unified national diagnostic connectivity standard . Hospital systems operate in silos, creating a fragmented ecosystem where critical data fails to flow when patients need it most.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Failure Points in KapD's Current Model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320040" cy="1920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88696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Diagnostic Devices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3703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Sigma immunoassay unit produces results that are printed or manually re-entered into hospital systems. No automatic data flow. No chain of custody. In Australian public hospitals, over 60% of LIS integrations require manual intervention. (AIHW 2023)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320040" cy="1920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88696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Lab Systems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5120640" y="1216152"/>
            <a:ext cx="3703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Information Systems (LIS) differ between </a:t>
            </a:r>
            <a:r>
              <a:rPr lang="en-US" sz="1000" dirty="0" err="1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PathWest</a:t>
            </a: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Sullivan Nicolaides, Australian Clinical Labs, and public hospital networks. HL7 v2.x messages are inconsistently implemented. As a result in one format cannot be read by another system without custom middleware.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88036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2880360"/>
            <a:ext cx="320040" cy="1920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Resilient Data Sharing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640080" y="3319272"/>
            <a:ext cx="3703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cloud or network connectivity fails, diagnostic data flow stops. The Optus network outage (Nov 2023) demonstrated how healthcare systems reliant on single-point connectivity can halt clinical operations for hours across multiple sites.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320040" cy="1920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640" y="299008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Traceability or Audit Trail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5120640" y="3319272"/>
            <a:ext cx="3703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result is re-entered manually, its provenance is lost. During the Sigma reagent contamination incident (hypothetical scenario), there is no automated way to identify which patients received results from a faulty batch which is requiring costly manual review of thousands of records.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Product Strategy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serve. What we solve. Why us.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CUSTOMERS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0233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Hospital Networks  (e.g. NSW Health, Ramsay, Healthscope)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83664"/>
            <a:ext cx="4023360" cy="512064"/>
          </a:xfrm>
          <a:prstGeom prst="rect">
            <a:avLst/>
          </a:prstGeom>
          <a:solidFill>
            <a:srgbClr val="F1F8E9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Pathology Labs  (</a:t>
            </a:r>
            <a:r>
              <a:rPr lang="en-US" sz="105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PathWest</a:t>
            </a: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SN Pathology, Australian Clinical Labs)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40233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52374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Banks  (Australian Red Cross Lifeblood — 1.4M donations/yr)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054096"/>
            <a:ext cx="4023360" cy="512064"/>
          </a:xfrm>
          <a:prstGeom prst="rect">
            <a:avLst/>
          </a:prstGeom>
          <a:solidFill>
            <a:srgbClr val="F1F8E9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Care Providers  (requires &lt;2min result turnaround)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39312"/>
            <a:ext cx="40233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69417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Regional Healthcare Providers  (remote connectivity is critical)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1005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DIFFERENTIATION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63440" y="1298448"/>
            <a:ext cx="420624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1344168"/>
            <a:ext cx="274320" cy="274320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74920" y="135331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RPR Provenance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754880" y="166420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Provenance Record is captured at machine-level. It is tamper-proof, timestamped, immutable. No competitor does this at the device edge.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487168"/>
            <a:ext cx="420624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2532888"/>
            <a:ext cx="274320" cy="274320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4920" y="254203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&amp; Composable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4754880" y="28529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as full integration layer, partial module, or embedded SDK inside commercial products. One platform scales from rural clinic to 2,000-bed network.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63440" y="3675888"/>
            <a:ext cx="420624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3721608"/>
            <a:ext cx="274320" cy="274320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74920" y="373075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Compliance-First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4754880" y="404164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AS4700 (HL7 v2 AU), HL7 FHIR R4, ADHA standards, and My Health Record APIs  from day one, not retrofitted.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System Architecture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i="1" dirty="0" err="1">
                <a:solidFill>
                  <a:srgbClr val="76C442"/>
                </a:solidFill>
                <a:latin typeface="Arial"/>
                <a:ea typeface="Arial" pitchFamily="34" charset="-122"/>
                <a:cs typeface="Arial"/>
              </a:rPr>
              <a:t>KapConnect</a:t>
            </a:r>
            <a:r>
              <a:rPr lang="en-US" sz="1200" i="1" dirty="0">
                <a:solidFill>
                  <a:srgbClr val="76C442"/>
                </a:solidFill>
                <a:latin typeface="Arial"/>
                <a:ea typeface="Arial" pitchFamily="34" charset="-122"/>
                <a:cs typeface="Arial"/>
              </a:rPr>
              <a:t>: Four Layer Integration Architecture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011680" cy="3566160"/>
          </a:xfrm>
          <a:prstGeom prst="rect">
            <a:avLst/>
          </a:prstGeom>
          <a:solidFill>
            <a:srgbClr val="1A1A2E"/>
          </a:solidFill>
          <a:ln w="190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01168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784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LAYER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228600" y="1233125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Adapter</a:t>
            </a:r>
            <a:endParaRPr lang="en-US" sz="75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6093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Sigma Immunoassay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26771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KapD Devices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274320" y="2871216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9260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Adapter (RPR)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274320" y="3529584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5844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Monitor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2194560" y="2514600"/>
            <a:ext cx="201168" cy="73152"/>
          </a:xfrm>
          <a:prstGeom prst="rect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0" y="239572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2395728" y="960120"/>
            <a:ext cx="2011680" cy="3566160"/>
          </a:xfrm>
          <a:prstGeom prst="rect">
            <a:avLst/>
          </a:prstGeom>
          <a:solidFill>
            <a:srgbClr val="1A1A2E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95728" y="960120"/>
            <a:ext cx="201168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41448" y="9784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HUB</a:t>
            </a:r>
            <a:endParaRPr lang="en-US" sz="850"/>
          </a:p>
        </p:txBody>
      </p:sp>
      <p:sp>
        <p:nvSpPr>
          <p:cNvPr id="21" name="Text 19"/>
          <p:cNvSpPr/>
          <p:nvPr/>
        </p:nvSpPr>
        <p:spPr>
          <a:xfrm>
            <a:off x="2441448" y="12252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+ On-Premise</a:t>
            </a:r>
            <a:endParaRPr lang="en-US" sz="750"/>
          </a:p>
        </p:txBody>
      </p:sp>
      <p:sp>
        <p:nvSpPr>
          <p:cNvPr id="22" name="Shape 20"/>
          <p:cNvSpPr/>
          <p:nvPr/>
        </p:nvSpPr>
        <p:spPr>
          <a:xfrm>
            <a:off x="2487168" y="1554480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32888" y="16093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HL7 FHIR / AS4700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2487168" y="2212848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32888" y="226771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Broker (Kafka)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2487168" y="2871216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32888" y="29260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RPR Verification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2487168" y="3529584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32888" y="35844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 Engine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4407408" y="2514600"/>
            <a:ext cx="201168" cy="73152"/>
          </a:xfrm>
          <a:prstGeom prst="rect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98848" y="239572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/>
          </a:p>
        </p:txBody>
      </p:sp>
      <p:sp>
        <p:nvSpPr>
          <p:cNvPr id="32" name="Shape 30"/>
          <p:cNvSpPr/>
          <p:nvPr/>
        </p:nvSpPr>
        <p:spPr>
          <a:xfrm>
            <a:off x="4608576" y="960120"/>
            <a:ext cx="2011680" cy="3566160"/>
          </a:xfrm>
          <a:prstGeom prst="rect">
            <a:avLst/>
          </a:prstGeom>
          <a:solidFill>
            <a:srgbClr val="1A1A2E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08576" y="960120"/>
            <a:ext cx="20116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54296" y="9784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SYSTEMS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4654296" y="12252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Systems</a:t>
            </a:r>
            <a:endParaRPr lang="en-US" sz="750"/>
          </a:p>
        </p:txBody>
      </p:sp>
      <p:sp>
        <p:nvSpPr>
          <p:cNvPr id="36" name="Shape 34"/>
          <p:cNvSpPr/>
          <p:nvPr/>
        </p:nvSpPr>
        <p:spPr>
          <a:xfrm>
            <a:off x="4700016" y="1554480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45736" y="16093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 / EMR / HIS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4700016" y="2212848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45736" y="226771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Health Record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4700016" y="2871216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45736" y="29260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Systems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4700016" y="3529584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45736" y="35844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Pathology Networks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6620256" y="2514600"/>
            <a:ext cx="201168" cy="73152"/>
          </a:xfrm>
          <a:prstGeom prst="rect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11696" y="239572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/>
          </a:p>
        </p:txBody>
      </p:sp>
      <p:sp>
        <p:nvSpPr>
          <p:cNvPr id="46" name="Shape 44"/>
          <p:cNvSpPr/>
          <p:nvPr/>
        </p:nvSpPr>
        <p:spPr>
          <a:xfrm>
            <a:off x="6821424" y="960120"/>
            <a:ext cx="2011680" cy="3566160"/>
          </a:xfrm>
          <a:prstGeom prst="rect">
            <a:avLst/>
          </a:prstGeom>
          <a:solidFill>
            <a:srgbClr val="1A1A2E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821424" y="960120"/>
            <a:ext cx="201168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67144" y="9784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INTERFACES</a:t>
            </a:r>
            <a:endParaRPr lang="en-US" sz="850"/>
          </a:p>
        </p:txBody>
      </p:sp>
      <p:sp>
        <p:nvSpPr>
          <p:cNvPr id="49" name="Text 47"/>
          <p:cNvSpPr/>
          <p:nvPr/>
        </p:nvSpPr>
        <p:spPr>
          <a:xfrm>
            <a:off x="6867144" y="12252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Dashboards</a:t>
            </a:r>
            <a:endParaRPr lang="en-US" sz="750"/>
          </a:p>
        </p:txBody>
      </p:sp>
      <p:sp>
        <p:nvSpPr>
          <p:cNvPr id="50" name="Shape 48"/>
          <p:cNvSpPr/>
          <p:nvPr/>
        </p:nvSpPr>
        <p:spPr>
          <a:xfrm>
            <a:off x="6912864" y="1554480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58584" y="16093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Technician</a:t>
            </a:r>
            <a:endParaRPr lang="en-US" sz="900"/>
          </a:p>
        </p:txBody>
      </p:sp>
      <p:sp>
        <p:nvSpPr>
          <p:cNvPr id="52" name="Shape 50"/>
          <p:cNvSpPr/>
          <p:nvPr/>
        </p:nvSpPr>
        <p:spPr>
          <a:xfrm>
            <a:off x="6912864" y="2212848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58584" y="226771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View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6912864" y="2871216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958584" y="29260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</a:t>
            </a:r>
            <a:endParaRPr lang="en-US" sz="900"/>
          </a:p>
        </p:txBody>
      </p:sp>
      <p:sp>
        <p:nvSpPr>
          <p:cNvPr id="56" name="Shape 54"/>
          <p:cNvSpPr/>
          <p:nvPr/>
        </p:nvSpPr>
        <p:spPr>
          <a:xfrm>
            <a:off x="6912864" y="3529584"/>
            <a:ext cx="1828800" cy="548640"/>
          </a:xfrm>
          <a:prstGeom prst="rect">
            <a:avLst/>
          </a:prstGeom>
          <a:solidFill>
            <a:srgbClr val="252545"/>
          </a:solidFill>
          <a:ln w="63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958584" y="35844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Ops Console</a:t>
            </a:r>
            <a:endParaRPr lang="en-US" sz="900"/>
          </a:p>
        </p:txBody>
      </p:sp>
      <p:sp>
        <p:nvSpPr>
          <p:cNvPr id="58" name="Shape 56"/>
          <p:cNvSpPr/>
          <p:nvPr/>
        </p:nvSpPr>
        <p:spPr>
          <a:xfrm>
            <a:off x="182880" y="4617720"/>
            <a:ext cx="8778240" cy="365760"/>
          </a:xfrm>
          <a:prstGeom prst="rect">
            <a:avLst/>
          </a:prstGeom>
          <a:solidFill>
            <a:srgbClr val="1A2A1A"/>
          </a:solidFill>
          <a:ln w="1016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LAYER: Runs across all stages-Pre-analytical error detection  |  Critical value prediction  |  Instrument health monitoring  |  Duplicate resolution  |  Compliance reporting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8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The Story of One Blood </a:t>
            </a:r>
            <a:r>
              <a:rPr lang="en-US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Test: End-to-End</a:t>
            </a:r>
            <a:r>
              <a:rPr lang="en-US" sz="18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Data Flow</a:t>
            </a:r>
            <a:endParaRPr lang="en-US" sz="180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" cy="5029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822960" y="8869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Orders Test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created in Hospital EMR (HL7 FHIR MedicationRequest)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3063240" y="88696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3749040" y="8869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AI Screened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200400" y="143560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KapConnect AI pre-validates sample type, quality, correct tube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5989320" y="88696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675120" y="8869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Sigma Runs Test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6126480" y="143560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Immunoassay result produced + RPR certificate stamped instantly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822960" y="30358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Processes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274320" y="35844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→ verifies RPR → deduplicates patient → routes result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3063240" y="303580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/>
          </a:p>
        </p:txBody>
      </p:sp>
      <p:sp>
        <p:nvSpPr>
          <p:cNvPr id="23" name="Shape 21"/>
          <p:cNvSpPr/>
          <p:nvPr/>
        </p:nvSpPr>
        <p:spPr>
          <a:xfrm>
            <a:off x="3200400" y="3017520"/>
            <a:ext cx="502920" cy="5029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3749040" y="30358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Delivered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3200400" y="35844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receives verified result in &lt;2 minutes on their device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5989320" y="303580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/>
          </a:p>
        </p:txBody>
      </p:sp>
      <p:sp>
        <p:nvSpPr>
          <p:cNvPr id="28" name="Shape 26"/>
          <p:cNvSpPr/>
          <p:nvPr/>
        </p:nvSpPr>
        <p:spPr>
          <a:xfrm>
            <a:off x="6126480" y="3017520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264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6675120" y="30358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if Critical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126480" y="35844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alert sent. Escalates to on-call if not acknowledged in 15min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F1F8E9"/>
          </a:solidFill>
          <a:ln w="1016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Provenance Record (RPR):  Instrument serial no. · Firmware version · Operator ID · Timestamp · Sample batch ID — immutable, captured at device edge, never alterable.</a:t>
            </a:r>
            <a:endParaRPr lang="en-US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Data Governance &amp; Reliability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182880" y="73152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278892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2606040" cy="1417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50">
                <a:solidFill>
                  <a:srgbClr val="212121"/>
                </a:solidFill>
                <a:latin typeface="Arial"/>
                <a:ea typeface="Arial" pitchFamily="34" charset="-122"/>
                <a:cs typeface="Arial"/>
              </a:rPr>
              <a:t>Pre-analytical AI screens every sample before the test runs. Detects </a:t>
            </a:r>
            <a:r>
              <a:rPr lang="en-US" sz="950" err="1">
                <a:solidFill>
                  <a:srgbClr val="212121"/>
                </a:solidFill>
                <a:latin typeface="Arial"/>
                <a:ea typeface="Arial" pitchFamily="34" charset="-122"/>
                <a:cs typeface="Arial"/>
              </a:rPr>
              <a:t>haemolysis</a:t>
            </a:r>
            <a:r>
              <a:rPr lang="en-US" sz="950">
                <a:solidFill>
                  <a:srgbClr val="212121"/>
                </a:solidFill>
                <a:latin typeface="Arial"/>
                <a:ea typeface="Arial" pitchFamily="34" charset="-122"/>
                <a:cs typeface="Arial"/>
              </a:rPr>
              <a:t>, clotting, wrong tube type, insufficient quantity which are the top 4 error sources (RCPA AU 2024). Real-time quality flags sent to technician dashboard.</a:t>
            </a:r>
            <a:endParaRPr lang="en-US" sz="950">
              <a:latin typeface="Arial"/>
              <a:cs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172968" y="73152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72968" y="731520"/>
            <a:ext cx="27889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64408" y="86868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Reliability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3264408" y="1188720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 message broker ensures at-least-once delivery with idempotent consumers. Dead letter queue for failed messages. Local on-premise hub maintains full operation during cloud outages which is tested against Optus-style failure scenarios.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63056" y="73152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63056" y="731520"/>
            <a:ext cx="278892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54496" y="86868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Patient Handling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6254496" y="1188720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Patient Index (UPI) engine uses probabilistic matching (name, DOB, Medicare No., address). AI scores match confidence. Low confidence → human review. High confidence → administrator confirmation. Never auto-merged.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182880" y="283464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2880" y="2834640"/>
            <a:ext cx="2788920" cy="731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971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Auditability &amp; RPR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274320" y="3291840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carries an immutable RPR (Result Provenance Record). WORM-compliant storage (Write Once Read Many). Full audit trail accessible under My Health Record legislation. Reagent batch recall: all affected patients identified in &lt;30 seconds.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3172968" y="283464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72968" y="2834640"/>
            <a:ext cx="278892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64408" y="2971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Controls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3264408" y="3291840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(RBAC) with zero-trust architecture. Reverse encryption ensures IT and developers cannot view patient data. Compliant with Privacy Act 1988, Australian Privacy Principles, and ADHA Security Framework.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6163056" y="283464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63056" y="2834640"/>
            <a:ext cx="2788920" cy="7315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54496" y="2971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Safety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6254496" y="3291840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value alerts with 15-minute escalation to on-call. Mismatched sample flagging prevents wrong-patient results. All clinically significant flags logged and auditable. Aligns with ACSQHC National Safety &amp; Quality Health Service Standards.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Operational Feasibility</a:t>
            </a:r>
            <a:r>
              <a:rPr lang="en-US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Gets What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20116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201168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79552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Lab Technician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1828800" cy="685800"/>
          </a:xfrm>
          <a:prstGeom prst="rect">
            <a:avLst/>
          </a:prstGeom>
          <a:solidFill>
            <a:srgbClr val="F1F8E9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58191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5361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sample processing queue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18288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40487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35915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pre-analytical flag alerts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274320" y="3154680"/>
            <a:ext cx="1828800" cy="685800"/>
          </a:xfrm>
          <a:prstGeom prst="rect">
            <a:avLst/>
          </a:prstGeom>
          <a:solidFill>
            <a:srgbClr val="F1F8E9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22783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318211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status &amp; uptime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18288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405079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400507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rejection analytics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2395728" y="749808"/>
            <a:ext cx="20116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395728" y="749808"/>
            <a:ext cx="201168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41448" y="79552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 Clinician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2487168" y="1508760"/>
            <a:ext cx="1828800" cy="685800"/>
          </a:xfrm>
          <a:prstGeom prst="rect">
            <a:avLst/>
          </a:prstGeom>
          <a:solidFill>
            <a:srgbClr val="F1F8E9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32888" y="158191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0" y="15361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result timeline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2487168" y="2331720"/>
            <a:ext cx="18288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32888" y="240487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0" y="235915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value push alerts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2487168" y="3154680"/>
            <a:ext cx="1828800" cy="685800"/>
          </a:xfrm>
          <a:prstGeom prst="rect">
            <a:avLst/>
          </a:prstGeom>
          <a:solidFill>
            <a:srgbClr val="F1F8E9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32888" y="322783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0" y="318211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 escalation if unacknowledged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2487168" y="3977640"/>
            <a:ext cx="18288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32888" y="405079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0" y="400507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patient test history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4608576" y="749808"/>
            <a:ext cx="20116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08576" y="749808"/>
            <a:ext cx="201168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54296" y="79552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Hospital Admin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4700016" y="1508760"/>
            <a:ext cx="1828800" cy="685800"/>
          </a:xfrm>
          <a:prstGeom prst="rect">
            <a:avLst/>
          </a:prstGeom>
          <a:solidFill>
            <a:srgbClr val="F1F8E9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45736" y="158191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56048" y="15361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throughput dashboards</a:t>
            </a:r>
            <a:endParaRPr lang="en-US" sz="950"/>
          </a:p>
        </p:txBody>
      </p:sp>
      <p:sp>
        <p:nvSpPr>
          <p:cNvPr id="40" name="Shape 38"/>
          <p:cNvSpPr/>
          <p:nvPr/>
        </p:nvSpPr>
        <p:spPr>
          <a:xfrm>
            <a:off x="4700016" y="2331720"/>
            <a:ext cx="18288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45736" y="240487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56048" y="235915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detection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4700016" y="3154680"/>
            <a:ext cx="1828800" cy="685800"/>
          </a:xfrm>
          <a:prstGeom prst="rect">
            <a:avLst/>
          </a:prstGeom>
          <a:solidFill>
            <a:srgbClr val="F1F8E9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45736" y="322783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56048" y="318211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compliance tracking</a:t>
            </a:r>
            <a:endParaRPr lang="en-US" sz="950"/>
          </a:p>
        </p:txBody>
      </p:sp>
      <p:sp>
        <p:nvSpPr>
          <p:cNvPr id="46" name="Shape 44"/>
          <p:cNvSpPr/>
          <p:nvPr/>
        </p:nvSpPr>
        <p:spPr>
          <a:xfrm>
            <a:off x="4700016" y="3977640"/>
            <a:ext cx="18288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45736" y="405079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56048" y="400507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test reporting</a:t>
            </a:r>
            <a:endParaRPr lang="en-US" sz="950"/>
          </a:p>
        </p:txBody>
      </p:sp>
      <p:sp>
        <p:nvSpPr>
          <p:cNvPr id="49" name="Shape 47"/>
          <p:cNvSpPr/>
          <p:nvPr/>
        </p:nvSpPr>
        <p:spPr>
          <a:xfrm>
            <a:off x="6821424" y="749808"/>
            <a:ext cx="20116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821424" y="749808"/>
            <a:ext cx="201168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67144" y="79552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IT Operations</a:t>
            </a:r>
            <a:endParaRPr lang="en-US" sz="1100"/>
          </a:p>
        </p:txBody>
      </p:sp>
      <p:sp>
        <p:nvSpPr>
          <p:cNvPr id="52" name="Shape 50"/>
          <p:cNvSpPr/>
          <p:nvPr/>
        </p:nvSpPr>
        <p:spPr>
          <a:xfrm>
            <a:off x="6912864" y="1508760"/>
            <a:ext cx="1828800" cy="685800"/>
          </a:xfrm>
          <a:prstGeom prst="rect">
            <a:avLst/>
          </a:prstGeom>
          <a:solidFill>
            <a:srgbClr val="F1F8E9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958584" y="158191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168896" y="15361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health monitor</a:t>
            </a:r>
            <a:endParaRPr lang="en-US" sz="950"/>
          </a:p>
        </p:txBody>
      </p:sp>
      <p:sp>
        <p:nvSpPr>
          <p:cNvPr id="55" name="Shape 53"/>
          <p:cNvSpPr/>
          <p:nvPr/>
        </p:nvSpPr>
        <p:spPr>
          <a:xfrm>
            <a:off x="6912864" y="2331720"/>
            <a:ext cx="18288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958584" y="240487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168896" y="235915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telemetry</a:t>
            </a:r>
            <a:endParaRPr lang="en-US" sz="950"/>
          </a:p>
        </p:txBody>
      </p:sp>
      <p:sp>
        <p:nvSpPr>
          <p:cNvPr id="58" name="Shape 56"/>
          <p:cNvSpPr/>
          <p:nvPr/>
        </p:nvSpPr>
        <p:spPr>
          <a:xfrm>
            <a:off x="6912864" y="3154680"/>
            <a:ext cx="1828800" cy="685800"/>
          </a:xfrm>
          <a:prstGeom prst="rect">
            <a:avLst/>
          </a:prstGeom>
          <a:solidFill>
            <a:srgbClr val="F1F8E9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958584" y="322783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168896" y="318211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patient data visibility</a:t>
            </a:r>
            <a:endParaRPr lang="en-US" sz="950"/>
          </a:p>
        </p:txBody>
      </p:sp>
      <p:sp>
        <p:nvSpPr>
          <p:cNvPr id="61" name="Shape 59"/>
          <p:cNvSpPr/>
          <p:nvPr/>
        </p:nvSpPr>
        <p:spPr>
          <a:xfrm>
            <a:off x="6912864" y="3977640"/>
            <a:ext cx="18288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958584" y="4050792"/>
            <a:ext cx="164592" cy="164592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168896" y="400507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&amp; audit logs</a:t>
            </a:r>
            <a:endParaRPr lang="en-US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KapConnect™ Operations Dashboard</a:t>
            </a:r>
            <a:endParaRPr lang="en-US" sz="180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 — NSW Health Network  |  08:00–16:00 Shift  |  Friday 22 Aug 2026</a:t>
            </a:r>
            <a:endParaRPr lang="en-US" sz="95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1371600" cy="731520"/>
          </a:xfrm>
          <a:prstGeom prst="rect">
            <a:avLst/>
          </a:prstGeom>
          <a:solidFill>
            <a:srgbClr val="1A2A3A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14,827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228600" y="12070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Today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1664208" y="804672"/>
            <a:ext cx="1371600" cy="731520"/>
          </a:xfrm>
          <a:prstGeom prst="rect">
            <a:avLst/>
          </a:prstGeom>
          <a:solidFill>
            <a:srgbClr val="1A2A3A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09928" y="8229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/ 96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1709928" y="12070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Devices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3145536" y="804672"/>
            <a:ext cx="1371600" cy="731520"/>
          </a:xfrm>
          <a:prstGeom prst="rect">
            <a:avLst/>
          </a:prstGeom>
          <a:solidFill>
            <a:srgbClr val="1A2A3A"/>
          </a:solidFill>
          <a:ln w="12700">
            <a:solidFill>
              <a:srgbClr val="29B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91256" y="8229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47s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3191256" y="12070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TAT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4626864" y="804672"/>
            <a:ext cx="1371600" cy="731520"/>
          </a:xfrm>
          <a:prstGeom prst="rect">
            <a:avLst/>
          </a:prstGeom>
          <a:solidFill>
            <a:srgbClr val="1A2A3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72584" y="8229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4672584" y="12070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Alerts</a:t>
            </a:r>
            <a:endParaRPr lang="en-US" sz="750"/>
          </a:p>
        </p:txBody>
      </p:sp>
      <p:sp>
        <p:nvSpPr>
          <p:cNvPr id="16" name="Shape 14"/>
          <p:cNvSpPr/>
          <p:nvPr/>
        </p:nvSpPr>
        <p:spPr>
          <a:xfrm>
            <a:off x="6108192" y="804672"/>
            <a:ext cx="1371600" cy="731520"/>
          </a:xfrm>
          <a:prstGeom prst="rect">
            <a:avLst/>
          </a:prstGeom>
          <a:solidFill>
            <a:srgbClr val="1A2A3A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53912" y="8229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6153912" y="12070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Pre-Anal Flags</a:t>
            </a:r>
            <a:endParaRPr lang="en-US" sz="750"/>
          </a:p>
        </p:txBody>
      </p:sp>
      <p:sp>
        <p:nvSpPr>
          <p:cNvPr id="19" name="Shape 17"/>
          <p:cNvSpPr/>
          <p:nvPr/>
        </p:nvSpPr>
        <p:spPr>
          <a:xfrm>
            <a:off x="7589520" y="804672"/>
            <a:ext cx="1371600" cy="731520"/>
          </a:xfrm>
          <a:prstGeom prst="rect">
            <a:avLst/>
          </a:prstGeom>
          <a:solidFill>
            <a:srgbClr val="1A2A3A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35240" y="8229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99.98%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7635240" y="12070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Uptime</a:t>
            </a:r>
            <a:endParaRPr lang="en-US" sz="750"/>
          </a:p>
        </p:txBody>
      </p:sp>
      <p:graphicFrame>
        <p:nvGraphicFramePr>
          <p:cNvPr id="22" name="Chart 0"/>
          <p:cNvGraphicFramePr/>
          <p:nvPr/>
        </p:nvGraphicFramePr>
        <p:xfrm>
          <a:off x="182880" y="1664208"/>
          <a:ext cx="4572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1"/>
          <p:cNvGraphicFramePr/>
          <p:nvPr/>
        </p:nvGraphicFramePr>
        <p:xfrm>
          <a:off x="4846320" y="1664208"/>
          <a:ext cx="23774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Shape 20"/>
          <p:cNvSpPr/>
          <p:nvPr/>
        </p:nvSpPr>
        <p:spPr>
          <a:xfrm>
            <a:off x="7296912" y="1664208"/>
            <a:ext cx="1664208" cy="2286000"/>
          </a:xfrm>
          <a:prstGeom prst="rect">
            <a:avLst/>
          </a:prstGeom>
          <a:solidFill>
            <a:srgbClr val="1A2A3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7315200" y="170992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CRITICAL ALERTS</a:t>
            </a:r>
            <a:endParaRPr lang="en-US" sz="850"/>
          </a:p>
        </p:txBody>
      </p:sp>
      <p:sp>
        <p:nvSpPr>
          <p:cNvPr id="26" name="Shape 22"/>
          <p:cNvSpPr/>
          <p:nvPr/>
        </p:nvSpPr>
        <p:spPr>
          <a:xfrm>
            <a:off x="7360920" y="2057400"/>
            <a:ext cx="1554480" cy="521208"/>
          </a:xfrm>
          <a:prstGeom prst="rect">
            <a:avLst/>
          </a:prstGeom>
          <a:solidFill>
            <a:srgbClr val="2A1010"/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7406640" y="208483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K+ 6.9 mmol/L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#A28471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4B · 14:22</a:t>
            </a:r>
            <a:endParaRPr lang="en-US" sz="800"/>
          </a:p>
        </p:txBody>
      </p:sp>
      <p:sp>
        <p:nvSpPr>
          <p:cNvPr id="28" name="Shape 24"/>
          <p:cNvSpPr/>
          <p:nvPr/>
        </p:nvSpPr>
        <p:spPr>
          <a:xfrm>
            <a:off x="7360920" y="2651760"/>
            <a:ext cx="1554480" cy="521208"/>
          </a:xfrm>
          <a:prstGeom prst="rect">
            <a:avLst/>
          </a:prstGeom>
          <a:solidFill>
            <a:srgbClr val="2A1010"/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7406640" y="267919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Troponin↑↑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#B19034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 Bay 3 · 15:01</a:t>
            </a:r>
            <a:endParaRPr lang="en-US" sz="800"/>
          </a:p>
        </p:txBody>
      </p:sp>
      <p:sp>
        <p:nvSpPr>
          <p:cNvPr id="30" name="Shape 26"/>
          <p:cNvSpPr/>
          <p:nvPr/>
        </p:nvSpPr>
        <p:spPr>
          <a:xfrm>
            <a:off x="7360920" y="3246120"/>
            <a:ext cx="1554480" cy="521208"/>
          </a:xfrm>
          <a:prstGeom prst="rect">
            <a:avLst/>
          </a:prstGeom>
          <a:solidFill>
            <a:srgbClr val="2A1010"/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7406640" y="327355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 4.2 g/dL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#C39817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 · 15:38</a:t>
            </a:r>
            <a:endParaRPr lang="en-US" sz="800"/>
          </a:p>
        </p:txBody>
      </p:sp>
      <p:sp>
        <p:nvSpPr>
          <p:cNvPr id="32" name="Shape 28"/>
          <p:cNvSpPr/>
          <p:nvPr/>
        </p:nvSpPr>
        <p:spPr>
          <a:xfrm>
            <a:off x="182880" y="4023360"/>
            <a:ext cx="8778240" cy="868680"/>
          </a:xfrm>
          <a:prstGeom prst="rect">
            <a:avLst/>
          </a:prstGeom>
          <a:solidFill>
            <a:srgbClr val="1A2A3A"/>
          </a:solidFill>
          <a:ln w="635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274320" y="40782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HEALTH — Sigma Units:</a:t>
            </a:r>
            <a:endParaRPr lang="en-US" sz="850"/>
          </a:p>
        </p:txBody>
      </p:sp>
      <p:sp>
        <p:nvSpPr>
          <p:cNvPr id="34" name="Shape 30"/>
          <p:cNvSpPr/>
          <p:nvPr/>
        </p:nvSpPr>
        <p:spPr>
          <a:xfrm>
            <a:off x="2103120" y="4087368"/>
            <a:ext cx="201168" cy="201168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2011680" y="4288536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SIG-001</a:t>
            </a:r>
            <a:endParaRPr lang="en-US" sz="700"/>
          </a:p>
          <a:p>
            <a:pPr marL="0" indent="0" algn="ctr">
              <a:buNone/>
            </a:pPr>
            <a:r>
              <a:rPr lang="en-US" sz="70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700"/>
          </a:p>
        </p:txBody>
      </p:sp>
      <p:sp>
        <p:nvSpPr>
          <p:cNvPr id="36" name="Shape 32"/>
          <p:cNvSpPr/>
          <p:nvPr/>
        </p:nvSpPr>
        <p:spPr>
          <a:xfrm>
            <a:off x="3264408" y="4087368"/>
            <a:ext cx="201168" cy="201168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3172968" y="4288536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SIG-002</a:t>
            </a:r>
            <a:endParaRPr lang="en-US" sz="700"/>
          </a:p>
          <a:p>
            <a:pPr marL="0" indent="0" algn="ctr">
              <a:buNone/>
            </a:pPr>
            <a:r>
              <a:rPr lang="en-US" sz="70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700"/>
          </a:p>
        </p:txBody>
      </p:sp>
      <p:sp>
        <p:nvSpPr>
          <p:cNvPr id="38" name="Shape 34"/>
          <p:cNvSpPr/>
          <p:nvPr/>
        </p:nvSpPr>
        <p:spPr>
          <a:xfrm>
            <a:off x="4425696" y="4087368"/>
            <a:ext cx="201168" cy="201168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334256" y="4288536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SIG-003</a:t>
            </a:r>
            <a:endParaRPr lang="en-US" sz="700"/>
          </a:p>
          <a:p>
            <a:pPr marL="0" indent="0" algn="ctr">
              <a:buNone/>
            </a:pPr>
            <a:r>
              <a:rPr lang="en-US" sz="70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</a:t>
            </a:r>
            <a:endParaRPr lang="en-US" sz="700"/>
          </a:p>
        </p:txBody>
      </p:sp>
      <p:sp>
        <p:nvSpPr>
          <p:cNvPr id="40" name="Shape 36"/>
          <p:cNvSpPr/>
          <p:nvPr/>
        </p:nvSpPr>
        <p:spPr>
          <a:xfrm>
            <a:off x="5586984" y="4087368"/>
            <a:ext cx="201168" cy="201168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5495544" y="4288536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SIG-004</a:t>
            </a:r>
            <a:endParaRPr lang="en-US" sz="700"/>
          </a:p>
          <a:p>
            <a:pPr marL="0" indent="0" algn="ctr">
              <a:buNone/>
            </a:pPr>
            <a:r>
              <a:rPr lang="en-US" sz="70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700"/>
          </a:p>
        </p:txBody>
      </p:sp>
      <p:sp>
        <p:nvSpPr>
          <p:cNvPr id="42" name="Shape 38"/>
          <p:cNvSpPr/>
          <p:nvPr/>
        </p:nvSpPr>
        <p:spPr>
          <a:xfrm>
            <a:off x="6748272" y="4087368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6656832" y="4288536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SIG-005</a:t>
            </a:r>
            <a:endParaRPr lang="en-US" sz="700"/>
          </a:p>
          <a:p>
            <a:pPr marL="0" indent="0" algn="ctr">
              <a:buNone/>
            </a:pPr>
            <a:r>
              <a:rPr lang="en-US" sz="70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700"/>
          </a:p>
        </p:txBody>
      </p:sp>
      <p:sp>
        <p:nvSpPr>
          <p:cNvPr id="44" name="Shape 40"/>
          <p:cNvSpPr/>
          <p:nvPr/>
        </p:nvSpPr>
        <p:spPr>
          <a:xfrm>
            <a:off x="7909560" y="4087368"/>
            <a:ext cx="201168" cy="201168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7818120" y="4288536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SIG-006</a:t>
            </a:r>
            <a:endParaRPr lang="en-US" sz="700"/>
          </a:p>
          <a:p>
            <a:pPr marL="0" indent="0" algn="ctr">
              <a:buNone/>
            </a:pPr>
            <a:r>
              <a:rPr lang="en-US" sz="70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Architecture: Cloud + On-Premise Hybrid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3931920" cy="4206240"/>
          </a:xfrm>
          <a:prstGeom prst="rect">
            <a:avLst/>
          </a:prstGeom>
          <a:solidFill>
            <a:srgbClr val="F1F8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CLOUD LAYER (AWS Sydney / Azure East AU)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Integration Hub (primary routing)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411480" y="1792224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17647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Patient Index (dedup engine)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11480" y="2322576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2951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inference layer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11480" y="2852928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8254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compliance reporting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411480" y="3383280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3355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analytics aggregation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11480" y="3913632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3886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Health Record API gateway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416052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⇌</a:t>
            </a:r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4114800" y="303580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on</a:t>
            </a:r>
            <a:endParaRPr lang="en-US" sz="800"/>
          </a:p>
          <a:p>
            <a:pPr marL="0" indent="0" algn="ctr">
              <a:buNone/>
            </a:pPr>
            <a:r>
              <a:rPr lang="en-US" sz="800" i="1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reconnect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4937760" y="749808"/>
            <a:ext cx="3931920" cy="420624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804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LOCAL NODE (Each Hospital Site)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5074920" y="1261872"/>
            <a:ext cx="182880" cy="1828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21808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Integration Hub replica (offline mode)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5074920" y="1792224"/>
            <a:ext cx="182880" cy="1828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21808" y="17647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edge adapters (RPR stamping)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5074920" y="2322576"/>
            <a:ext cx="182880" cy="1828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21808" y="22951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patient record cache (encrypted)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5074920" y="2852928"/>
            <a:ext cx="182880" cy="1828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21808" y="28254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local broker (message queue)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5074920" y="3383280"/>
            <a:ext cx="182880" cy="1828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21808" y="3355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alert escalation (SMS/pager fallback)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5074920" y="3913632"/>
            <a:ext cx="182880" cy="1828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21808" y="3886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operation during cloud outage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F1F8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47274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&lt; 5 minutes on cloud failure  |  Zero data loss guaranteed  |  Tested against Optus Nov 2023 outage simulation</a:t>
            </a:r>
            <a:endParaRPr lang="en-US" sz="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Risks, Trade-Offs &amp; Mitigations</a:t>
            </a:r>
            <a:endParaRPr lang="en-US" sz="180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749808"/>
          <a:ext cx="34747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3840480" y="749808"/>
            <a:ext cx="2011680" cy="27432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00"/>
          </a:p>
        </p:txBody>
      </p:sp>
      <p:sp>
        <p:nvSpPr>
          <p:cNvPr id="6" name="Shape 3"/>
          <p:cNvSpPr/>
          <p:nvPr/>
        </p:nvSpPr>
        <p:spPr>
          <a:xfrm>
            <a:off x="3840480" y="749808"/>
            <a:ext cx="512064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886200" y="7680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/>
          </a:p>
        </p:txBody>
      </p:sp>
      <p:sp>
        <p:nvSpPr>
          <p:cNvPr id="8" name="Text 5"/>
          <p:cNvSpPr/>
          <p:nvPr/>
        </p:nvSpPr>
        <p:spPr>
          <a:xfrm>
            <a:off x="5577840" y="76809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/>
          </a:p>
        </p:txBody>
      </p:sp>
      <p:sp>
        <p:nvSpPr>
          <p:cNvPr id="9" name="Text 6"/>
          <p:cNvSpPr/>
          <p:nvPr/>
        </p:nvSpPr>
        <p:spPr>
          <a:xfrm>
            <a:off x="6446520" y="7680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3840480" y="1078992"/>
            <a:ext cx="51206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40480" y="1078992"/>
            <a:ext cx="10972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986784" y="111556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/ Data Breach</a:t>
            </a:r>
            <a:endParaRPr lang="en-US" sz="850"/>
          </a:p>
        </p:txBody>
      </p:sp>
      <p:sp>
        <p:nvSpPr>
          <p:cNvPr id="13" name="Text 10"/>
          <p:cNvSpPr/>
          <p:nvPr/>
        </p:nvSpPr>
        <p:spPr>
          <a:xfrm>
            <a:off x="5541264" y="124358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/>
          </a:p>
        </p:txBody>
      </p:sp>
      <p:sp>
        <p:nvSpPr>
          <p:cNvPr id="14" name="Text 11"/>
          <p:cNvSpPr/>
          <p:nvPr/>
        </p:nvSpPr>
        <p:spPr>
          <a:xfrm>
            <a:off x="6446520" y="11155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 architecture, reverse encryption, ISO 27001 certification, penetration testing quarterly</a:t>
            </a:r>
            <a:endParaRPr lang="en-US" sz="800"/>
          </a:p>
        </p:txBody>
      </p:sp>
      <p:sp>
        <p:nvSpPr>
          <p:cNvPr id="15" name="Shape 12"/>
          <p:cNvSpPr/>
          <p:nvPr/>
        </p:nvSpPr>
        <p:spPr>
          <a:xfrm>
            <a:off x="3840480" y="1746504"/>
            <a:ext cx="5120640" cy="621792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840480" y="1746504"/>
            <a:ext cx="109728" cy="62179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986784" y="17830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System Integration</a:t>
            </a:r>
            <a:endParaRPr lang="en-US" sz="850"/>
          </a:p>
        </p:txBody>
      </p:sp>
      <p:sp>
        <p:nvSpPr>
          <p:cNvPr id="18" name="Text 15"/>
          <p:cNvSpPr/>
          <p:nvPr/>
        </p:nvSpPr>
        <p:spPr>
          <a:xfrm>
            <a:off x="5541264" y="191109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/>
          </a:p>
        </p:txBody>
      </p:sp>
      <p:sp>
        <p:nvSpPr>
          <p:cNvPr id="19" name="Text 16"/>
          <p:cNvSpPr/>
          <p:nvPr/>
        </p:nvSpPr>
        <p:spPr>
          <a:xfrm>
            <a:off x="6446520" y="1783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adapters for HL7 v2, v3, FHIR R4. Phased onboarding with dedicated integration engineers per site</a:t>
            </a:r>
            <a:endParaRPr lang="en-US" sz="800"/>
          </a:p>
        </p:txBody>
      </p:sp>
      <p:sp>
        <p:nvSpPr>
          <p:cNvPr id="20" name="Shape 17"/>
          <p:cNvSpPr/>
          <p:nvPr/>
        </p:nvSpPr>
        <p:spPr>
          <a:xfrm>
            <a:off x="3840480" y="2414016"/>
            <a:ext cx="51206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840480" y="2414016"/>
            <a:ext cx="109728" cy="62179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986784" y="245059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Staff Adoption</a:t>
            </a:r>
            <a:endParaRPr lang="en-US" sz="850"/>
          </a:p>
        </p:txBody>
      </p:sp>
      <p:sp>
        <p:nvSpPr>
          <p:cNvPr id="23" name="Text 20"/>
          <p:cNvSpPr/>
          <p:nvPr/>
        </p:nvSpPr>
        <p:spPr>
          <a:xfrm>
            <a:off x="5541264" y="257860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/>
          </a:p>
        </p:txBody>
      </p:sp>
      <p:sp>
        <p:nvSpPr>
          <p:cNvPr id="24" name="Text 21"/>
          <p:cNvSpPr/>
          <p:nvPr/>
        </p:nvSpPr>
        <p:spPr>
          <a:xfrm>
            <a:off x="6446520" y="24505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Role-specific UX design co-developed with clinicians. Change management program. In-workflow training.</a:t>
            </a:r>
            <a:endParaRPr lang="en-US" sz="800"/>
          </a:p>
        </p:txBody>
      </p:sp>
      <p:sp>
        <p:nvSpPr>
          <p:cNvPr id="25" name="Shape 22"/>
          <p:cNvSpPr/>
          <p:nvPr/>
        </p:nvSpPr>
        <p:spPr>
          <a:xfrm>
            <a:off x="3840480" y="3081528"/>
            <a:ext cx="5120640" cy="621792"/>
          </a:xfrm>
          <a:prstGeom prst="rect">
            <a:avLst/>
          </a:prstGeom>
          <a:solidFill>
            <a:srgbClr val="F5F5F5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840480" y="3081528"/>
            <a:ext cx="10972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986784" y="3118104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Connectivity Loss</a:t>
            </a:r>
            <a:endParaRPr lang="en-US" sz="850"/>
          </a:p>
        </p:txBody>
      </p:sp>
      <p:sp>
        <p:nvSpPr>
          <p:cNvPr id="28" name="Text 25"/>
          <p:cNvSpPr/>
          <p:nvPr/>
        </p:nvSpPr>
        <p:spPr>
          <a:xfrm>
            <a:off x="5541264" y="32461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/>
          </a:p>
        </p:txBody>
      </p:sp>
      <p:sp>
        <p:nvSpPr>
          <p:cNvPr id="29" name="Text 26"/>
          <p:cNvSpPr/>
          <p:nvPr/>
        </p:nvSpPr>
        <p:spPr>
          <a:xfrm>
            <a:off x="6446520" y="311810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hub maintains full operation. RTO &lt; 5 min. SMS pager fallback for critical alerts.</a:t>
            </a:r>
            <a:endParaRPr lang="en-US" sz="800"/>
          </a:p>
        </p:txBody>
      </p:sp>
      <p:sp>
        <p:nvSpPr>
          <p:cNvPr id="30" name="Shape 27"/>
          <p:cNvSpPr/>
          <p:nvPr/>
        </p:nvSpPr>
        <p:spPr>
          <a:xfrm>
            <a:off x="3840480" y="3749040"/>
            <a:ext cx="51206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840480" y="3749040"/>
            <a:ext cx="109728" cy="621792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986784" y="3785616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/ Privacy Change</a:t>
            </a:r>
            <a:endParaRPr lang="en-US" sz="850"/>
          </a:p>
        </p:txBody>
      </p:sp>
      <p:sp>
        <p:nvSpPr>
          <p:cNvPr id="33" name="Text 30"/>
          <p:cNvSpPr/>
          <p:nvPr/>
        </p:nvSpPr>
        <p:spPr>
          <a:xfrm>
            <a:off x="5541264" y="391363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Low-Med</a:t>
            </a:r>
            <a:endParaRPr lang="en-US" sz="850"/>
          </a:p>
        </p:txBody>
      </p:sp>
      <p:sp>
        <p:nvSpPr>
          <p:cNvPr id="34" name="Text 31"/>
          <p:cNvSpPr/>
          <p:nvPr/>
        </p:nvSpPr>
        <p:spPr>
          <a:xfrm>
            <a:off x="6446520" y="378561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compliance team. Quarterly review of ADHA, OAIC, and TGA guidance. Modular compliance modules.</a:t>
            </a:r>
            <a:endParaRPr lang="en-US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6974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  <a:effectLst>
            <a:outerShdw blurRad="76200" dist="381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69748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955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Foundation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65760" y="115214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8F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Q1–Q2 2027</a:t>
            </a:r>
            <a:endParaRPr lang="en-US" sz="1000"/>
          </a:p>
          <a:p>
            <a:pPr marL="0" indent="0">
              <a:buNone/>
            </a:pPr>
            <a:r>
              <a:rPr lang="en-US" sz="1000" i="1">
                <a:solidFill>
                  <a:srgbClr val="D8F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(0–6 months)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84048" y="1901952"/>
            <a:ext cx="164592" cy="16459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3504" y="185623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adapter deployment on Sigma units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384048" y="2496312"/>
            <a:ext cx="164592" cy="16459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" y="245059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RPR module integration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384048" y="3090672"/>
            <a:ext cx="164592" cy="16459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" y="304495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HL7 FHIR AS4700 routing engine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384048" y="3685032"/>
            <a:ext cx="164592" cy="16459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" y="363931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Pilot: 2 NSW Health sites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384048" y="4279392"/>
            <a:ext cx="164592" cy="16459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" y="423367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audit + ISO 27001 baseline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3182112" y="749808"/>
            <a:ext cx="26974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76200" dist="381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82112" y="749808"/>
            <a:ext cx="269748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73552" y="7955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Scale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3273552" y="115214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8F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Q3–Q4 2027</a:t>
            </a:r>
            <a:endParaRPr lang="en-US" sz="1000"/>
          </a:p>
          <a:p>
            <a:pPr marL="0" indent="0">
              <a:buNone/>
            </a:pPr>
            <a:r>
              <a:rPr lang="en-US" sz="1000" i="1">
                <a:solidFill>
                  <a:srgbClr val="D8F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(6–12 months)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3291840" y="1901952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11296" y="185623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Patient Index rollout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3291840" y="2496312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11296" y="245059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pre-analytical screening live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3291840" y="3090672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11296" y="304495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+ on-premise hybrid deployment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3291840" y="3685032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11296" y="363931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hospital sites connected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3291840" y="4279392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11296" y="423367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Health Record API integration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6089904" y="749808"/>
            <a:ext cx="26974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  <a:effectLst>
            <a:outerShdw blurRad="76200" dist="381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89904" y="749808"/>
            <a:ext cx="2697480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81344" y="7955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Intelligence</a:t>
            </a:r>
            <a:endParaRPr lang="en-US" sz="1400"/>
          </a:p>
        </p:txBody>
      </p:sp>
      <p:sp>
        <p:nvSpPr>
          <p:cNvPr id="35" name="Text 33"/>
          <p:cNvSpPr/>
          <p:nvPr/>
        </p:nvSpPr>
        <p:spPr>
          <a:xfrm>
            <a:off x="6181344" y="115214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8F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Q1–Q2 2028</a:t>
            </a:r>
            <a:endParaRPr lang="en-US" sz="1000"/>
          </a:p>
          <a:p>
            <a:pPr marL="0" indent="0">
              <a:buNone/>
            </a:pPr>
            <a:r>
              <a:rPr lang="en-US" sz="1000" i="1">
                <a:solidFill>
                  <a:srgbClr val="D8F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(12–18 months)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6199632" y="1901952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19088" y="185623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instrument maintenance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6199632" y="2496312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19088" y="245059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Australian network rollout</a:t>
            </a:r>
            <a:endParaRPr lang="en-US" sz="950"/>
          </a:p>
        </p:txBody>
      </p:sp>
      <p:sp>
        <p:nvSpPr>
          <p:cNvPr id="40" name="Shape 38"/>
          <p:cNvSpPr/>
          <p:nvPr/>
        </p:nvSpPr>
        <p:spPr>
          <a:xfrm>
            <a:off x="6199632" y="3090672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19088" y="304495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&amp; rural telehealth integration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6199632" y="3685032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19088" y="363931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compliance reporting</a:t>
            </a:r>
            <a:endParaRPr lang="en-US" sz="950"/>
          </a:p>
        </p:txBody>
      </p:sp>
      <p:sp>
        <p:nvSpPr>
          <p:cNvPr id="44" name="Shape 42"/>
          <p:cNvSpPr/>
          <p:nvPr/>
        </p:nvSpPr>
        <p:spPr>
          <a:xfrm>
            <a:off x="6199632" y="4279392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19088" y="423367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market pilot (NZ, UK)</a:t>
            </a:r>
            <a:endParaRPr lang="en-US" sz="9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Why </a:t>
            </a:r>
            <a:r>
              <a:rPr lang="en-US" sz="2400" b="1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KapConnect</a:t>
            </a:r>
            <a:r>
              <a:rPr lang="en-US" sz="24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Wins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outcomes based on Australian healthcare data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6596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347472" y="1920240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diagnostic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 time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47472" y="2816352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current AU average 4.2min</a:t>
            </a:r>
            <a:endParaRPr lang="en-US" sz="750"/>
          </a:p>
        </p:txBody>
      </p:sp>
      <p:sp>
        <p:nvSpPr>
          <p:cNvPr id="8" name="Shape 6"/>
          <p:cNvSpPr/>
          <p:nvPr/>
        </p:nvSpPr>
        <p:spPr>
          <a:xfrm>
            <a:off x="2450592" y="1051560"/>
            <a:ext cx="196596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6312" y="11430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$240M</a:t>
            </a:r>
            <a:endParaRPr lang="en-US" sz="4000"/>
          </a:p>
        </p:txBody>
      </p:sp>
      <p:sp>
        <p:nvSpPr>
          <p:cNvPr id="10" name="Text 8"/>
          <p:cNvSpPr/>
          <p:nvPr/>
        </p:nvSpPr>
        <p:spPr>
          <a:xfrm>
            <a:off x="2523744" y="1920240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 across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pathology system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2523744" y="2816352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AIHW cost-of-error data</a:t>
            </a:r>
            <a:endParaRPr lang="en-US" sz="750"/>
          </a:p>
        </p:txBody>
      </p:sp>
      <p:sp>
        <p:nvSpPr>
          <p:cNvPr id="12" name="Shape 10"/>
          <p:cNvSpPr/>
          <p:nvPr/>
        </p:nvSpPr>
        <p:spPr>
          <a:xfrm>
            <a:off x="4626864" y="1051560"/>
            <a:ext cx="196596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72584" y="11430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4000"/>
          </a:p>
        </p:txBody>
      </p:sp>
      <p:sp>
        <p:nvSpPr>
          <p:cNvPr id="14" name="Text 12"/>
          <p:cNvSpPr/>
          <p:nvPr/>
        </p:nvSpPr>
        <p:spPr>
          <a:xfrm>
            <a:off x="4700016" y="1920240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Pre-analytical error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rate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700016" y="2816352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 benchmark (validation set)</a:t>
            </a:r>
            <a:endParaRPr lang="en-US" sz="750"/>
          </a:p>
        </p:txBody>
      </p:sp>
      <p:sp>
        <p:nvSpPr>
          <p:cNvPr id="16" name="Shape 14"/>
          <p:cNvSpPr/>
          <p:nvPr/>
        </p:nvSpPr>
        <p:spPr>
          <a:xfrm>
            <a:off x="6803136" y="1051560"/>
            <a:ext cx="196596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48856" y="11430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&lt;30s</a:t>
            </a:r>
            <a:endParaRPr lang="en-US" sz="4000"/>
          </a:p>
        </p:txBody>
      </p:sp>
      <p:sp>
        <p:nvSpPr>
          <p:cNvPr id="18" name="Text 16"/>
          <p:cNvSpPr/>
          <p:nvPr/>
        </p:nvSpPr>
        <p:spPr>
          <a:xfrm>
            <a:off x="6876288" y="1920240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recall identification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affected patients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6876288" y="2816352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3+ hours manual search</a:t>
            </a:r>
            <a:endParaRPr lang="en-US" sz="75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201168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49300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2331720" y="3474720"/>
            <a:ext cx="164592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77440" y="349300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KapConnect™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4005072" y="3474720"/>
            <a:ext cx="201168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50792" y="349300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Epic/Cerner Middleware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6053328" y="3474720"/>
            <a:ext cx="182880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99048" y="349300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In-House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74320" y="3767328"/>
            <a:ext cx="2011680" cy="246888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37856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Machine-level RPR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2331720" y="3767328"/>
            <a:ext cx="1645920" cy="246888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77440" y="378561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Yes</a:t>
            </a:r>
            <a:endParaRPr lang="en-US" sz="850"/>
          </a:p>
        </p:txBody>
      </p:sp>
      <p:sp>
        <p:nvSpPr>
          <p:cNvPr id="32" name="Shape 30"/>
          <p:cNvSpPr/>
          <p:nvPr/>
        </p:nvSpPr>
        <p:spPr>
          <a:xfrm>
            <a:off x="4005072" y="3767328"/>
            <a:ext cx="2011680" cy="246888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50792" y="37856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6053328" y="3767328"/>
            <a:ext cx="1828800" cy="246888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99048" y="37856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Rarely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>
          <a:xfrm>
            <a:off x="274320" y="4023360"/>
            <a:ext cx="2011680" cy="246888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0040" y="4041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Multi-vendor device support</a:t>
            </a:r>
            <a:endParaRPr lang="en-US" sz="850"/>
          </a:p>
        </p:txBody>
      </p:sp>
      <p:sp>
        <p:nvSpPr>
          <p:cNvPr id="38" name="Shape 36"/>
          <p:cNvSpPr/>
          <p:nvPr/>
        </p:nvSpPr>
        <p:spPr>
          <a:xfrm>
            <a:off x="2331720" y="4023360"/>
            <a:ext cx="1645920" cy="246888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377440" y="404164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Yes</a:t>
            </a:r>
            <a:endParaRPr lang="en-US" sz="850"/>
          </a:p>
        </p:txBody>
      </p:sp>
      <p:sp>
        <p:nvSpPr>
          <p:cNvPr id="40" name="Shape 38"/>
          <p:cNvSpPr/>
          <p:nvPr/>
        </p:nvSpPr>
        <p:spPr>
          <a:xfrm>
            <a:off x="4005072" y="4023360"/>
            <a:ext cx="2011680" cy="246888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050792" y="4041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Limited</a:t>
            </a:r>
            <a:endParaRPr lang="en-US" sz="850"/>
          </a:p>
        </p:txBody>
      </p:sp>
      <p:sp>
        <p:nvSpPr>
          <p:cNvPr id="42" name="Shape 40"/>
          <p:cNvSpPr/>
          <p:nvPr/>
        </p:nvSpPr>
        <p:spPr>
          <a:xfrm>
            <a:off x="6053328" y="4023360"/>
            <a:ext cx="1828800" cy="246888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099048" y="40416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</a:t>
            </a:r>
            <a:endParaRPr lang="en-US" sz="850"/>
          </a:p>
        </p:txBody>
      </p:sp>
      <p:sp>
        <p:nvSpPr>
          <p:cNvPr id="44" name="Shape 42"/>
          <p:cNvSpPr/>
          <p:nvPr/>
        </p:nvSpPr>
        <p:spPr>
          <a:xfrm>
            <a:off x="274320" y="4279392"/>
            <a:ext cx="2011680" cy="246888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0040" y="4297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compliance (AS4700)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2331720" y="4279392"/>
            <a:ext cx="1645920" cy="246888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377440" y="429768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Built-in</a:t>
            </a:r>
            <a:endParaRPr lang="en-US" sz="850"/>
          </a:p>
        </p:txBody>
      </p:sp>
      <p:sp>
        <p:nvSpPr>
          <p:cNvPr id="48" name="Shape 46"/>
          <p:cNvSpPr/>
          <p:nvPr/>
        </p:nvSpPr>
        <p:spPr>
          <a:xfrm>
            <a:off x="4005072" y="4279392"/>
            <a:ext cx="2011680" cy="246888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050792" y="4297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Addon cost</a:t>
            </a:r>
            <a:endParaRPr lang="en-US" sz="850"/>
          </a:p>
        </p:txBody>
      </p:sp>
      <p:sp>
        <p:nvSpPr>
          <p:cNvPr id="50" name="Shape 48"/>
          <p:cNvSpPr/>
          <p:nvPr/>
        </p:nvSpPr>
        <p:spPr>
          <a:xfrm>
            <a:off x="6053328" y="4279392"/>
            <a:ext cx="1828800" cy="246888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099048" y="42976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Manual</a:t>
            </a:r>
            <a:endParaRPr lang="en-US" sz="850"/>
          </a:p>
        </p:txBody>
      </p:sp>
      <p:sp>
        <p:nvSpPr>
          <p:cNvPr id="52" name="Shape 50"/>
          <p:cNvSpPr/>
          <p:nvPr/>
        </p:nvSpPr>
        <p:spPr>
          <a:xfrm>
            <a:off x="274320" y="4535424"/>
            <a:ext cx="2011680" cy="246888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20040" y="45537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resilience</a:t>
            </a:r>
            <a:endParaRPr lang="en-US" sz="850"/>
          </a:p>
        </p:txBody>
      </p:sp>
      <p:sp>
        <p:nvSpPr>
          <p:cNvPr id="54" name="Shape 52"/>
          <p:cNvSpPr/>
          <p:nvPr/>
        </p:nvSpPr>
        <p:spPr>
          <a:xfrm>
            <a:off x="2331720" y="4535424"/>
            <a:ext cx="1645920" cy="246888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377440" y="455371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Yes</a:t>
            </a:r>
            <a:endParaRPr lang="en-US" sz="850"/>
          </a:p>
        </p:txBody>
      </p:sp>
      <p:sp>
        <p:nvSpPr>
          <p:cNvPr id="56" name="Shape 54"/>
          <p:cNvSpPr/>
          <p:nvPr/>
        </p:nvSpPr>
        <p:spPr>
          <a:xfrm>
            <a:off x="4005072" y="4535424"/>
            <a:ext cx="2011680" cy="246888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050792" y="45537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</a:t>
            </a:r>
            <a:endParaRPr lang="en-US" sz="850"/>
          </a:p>
        </p:txBody>
      </p:sp>
      <p:sp>
        <p:nvSpPr>
          <p:cNvPr id="58" name="Shape 56"/>
          <p:cNvSpPr/>
          <p:nvPr/>
        </p:nvSpPr>
        <p:spPr>
          <a:xfrm>
            <a:off x="6053328" y="4535424"/>
            <a:ext cx="1828800" cy="246888"/>
          </a:xfrm>
          <a:prstGeom prst="rect">
            <a:avLst/>
          </a:prstGeom>
          <a:solidFill>
            <a:srgbClr val="111111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099048" y="455371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Variable</a:t>
            </a:r>
            <a:endParaRPr lang="en-US" sz="850"/>
          </a:p>
        </p:txBody>
      </p:sp>
      <p:sp>
        <p:nvSpPr>
          <p:cNvPr id="60" name="Shape 58"/>
          <p:cNvSpPr/>
          <p:nvPr/>
        </p:nvSpPr>
        <p:spPr>
          <a:xfrm>
            <a:off x="274320" y="4791456"/>
            <a:ext cx="2011680" cy="246888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20040" y="48097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pre-analytical screening</a:t>
            </a:r>
            <a:endParaRPr lang="en-US" sz="850"/>
          </a:p>
        </p:txBody>
      </p:sp>
      <p:sp>
        <p:nvSpPr>
          <p:cNvPr id="62" name="Shape 60"/>
          <p:cNvSpPr/>
          <p:nvPr/>
        </p:nvSpPr>
        <p:spPr>
          <a:xfrm>
            <a:off x="2331720" y="4791456"/>
            <a:ext cx="1645920" cy="246888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377440" y="480974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6C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Yes</a:t>
            </a:r>
            <a:endParaRPr lang="en-US" sz="850"/>
          </a:p>
        </p:txBody>
      </p:sp>
      <p:sp>
        <p:nvSpPr>
          <p:cNvPr id="64" name="Shape 62"/>
          <p:cNvSpPr/>
          <p:nvPr/>
        </p:nvSpPr>
        <p:spPr>
          <a:xfrm>
            <a:off x="4005072" y="4791456"/>
            <a:ext cx="2011680" cy="246888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050792" y="48097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</a:t>
            </a:r>
            <a:endParaRPr lang="en-US" sz="850"/>
          </a:p>
        </p:txBody>
      </p:sp>
      <p:sp>
        <p:nvSpPr>
          <p:cNvPr id="66" name="Shape 64"/>
          <p:cNvSpPr/>
          <p:nvPr/>
        </p:nvSpPr>
        <p:spPr>
          <a:xfrm>
            <a:off x="6053328" y="4791456"/>
            <a:ext cx="1828800" cy="246888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099048" y="480974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</a:t>
            </a:r>
            <a:endParaRPr lang="en-US" sz="8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43400" y="-374215"/>
            <a:ext cx="5029200" cy="5029200"/>
          </a:xfrm>
          <a:prstGeom prst="ellipse">
            <a:avLst/>
          </a:prstGeom>
          <a:solidFill>
            <a:srgbClr val="1B5E20">
              <a:alpha val="25000"/>
            </a:srgbClr>
          </a:solidFill>
          <a:ln w="6350">
            <a:solidFill>
              <a:srgbClr val="2E7D3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84048" cy="384048"/>
          </a:xfrm>
          <a:prstGeom prst="ellipse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841248" y="9144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Phase 1 scope: deploy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KapConnect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edge adapters across all Sigma units in 2 NSW Health pilot sites by Q1 2027.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841248" y="18288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an Australian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KapConnect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Clinical Advisory Board with representatives from RCPA, ACHS, and NSW/VIC Health to govern clinical outcomes.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841248" y="2743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ISO 27001 and ADHA security framework certification before Phase 1 go-live to satisfy hospital procurement requirements.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384048" cy="38404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841248" y="36576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PathWest and Australian Clinical Labs as early adopter commercial partners to validate the modular integration model at scale.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6858000" y="4663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Open Sans" panose="020B0606030504020204" pitchFamily="34" charset="0"/>
                <a:cs typeface="Arial" pitchFamily="34" charset="-120"/>
              </a:rPr>
              <a:t>Deloitte.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365760" y="498348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bfbeb76-6249-402b-b814-cc7fb2392d4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10CCE843B5C64CB2913D0E7BCFC1B1" ma:contentTypeVersion="7" ma:contentTypeDescription="Create a new document." ma:contentTypeScope="" ma:versionID="8edee644ba713c93ae2ac9f6fdbde50a">
  <xsd:schema xmlns:xsd="http://www.w3.org/2001/XMLSchema" xmlns:xs="http://www.w3.org/2001/XMLSchema" xmlns:p="http://schemas.microsoft.com/office/2006/metadata/properties" xmlns:ns3="cbfbeb76-6249-402b-b814-cc7fb2392d47" targetNamespace="http://schemas.microsoft.com/office/2006/metadata/properties" ma:root="true" ma:fieldsID="ef7c2c6c5c27b24db8da974b608ba217" ns3:_="">
    <xsd:import namespace="cbfbeb76-6249-402b-b814-cc7fb2392d4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beb76-6249-402b-b814-cc7fb2392d4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38D7E5-D91E-4167-9A20-D6F32803D64C}">
  <ds:schemaRefs>
    <ds:schemaRef ds:uri="http://purl.org/dc/terms/"/>
    <ds:schemaRef ds:uri="http://purl.org/dc/elements/1.1/"/>
    <ds:schemaRef ds:uri="http://schemas.microsoft.com/office/2006/documentManagement/types"/>
    <ds:schemaRef ds:uri="cbfbeb76-6249-402b-b814-cc7fb2392d47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EBBD4AA-3D6D-40C0-BEF5-25AE2280E6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03C6EA-9174-48B0-A97C-EA22B4C6CF9C}">
  <ds:schemaRefs>
    <ds:schemaRef ds:uri="cbfbeb76-6249-402b-b814-cc7fb2392d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148</TotalTime>
  <Words>1795</Words>
  <Application>Microsoft Office PowerPoint</Application>
  <PresentationFormat>On-screen Show (16:9)</PresentationFormat>
  <Paragraphs>335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Amasis MT Pro Medium</vt:lpstr>
      <vt:lpstr>Aptos</vt:lpstr>
      <vt:lpstr>Arial</vt:lpstr>
      <vt:lpstr>Neue Haas Grotesk Text Pro</vt:lpstr>
      <vt:lpstr>Open Sans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Yeamin Ahmed</cp:lastModifiedBy>
  <cp:revision>4</cp:revision>
  <dcterms:created xsi:type="dcterms:W3CDTF">2026-08-22T06:07:56Z</dcterms:created>
  <dcterms:modified xsi:type="dcterms:W3CDTF">2026-08-24T22:36:36Z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0x0101004210CCE843B5C64CB2913D0E7BCFC1B1</vt:lpwstr>
  </property>
</Properties>
</file>